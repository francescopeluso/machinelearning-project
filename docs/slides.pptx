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Solar Filament Segmentation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4A4A4A"/>
                </a:solidFill>
                <a:latin typeface="Arial"/>
              </a:rPr>
              <a:t>A convolutional model for H-alpha images of the solar disk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41832" y="3703320"/>
            <a:ext cx="2011680" cy="3810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Francesco Peluso  ·  IE22700088  ·  team 2026_MLrec_gr02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4A4A4A"/>
                </a:solidFill>
                <a:latin typeface="Arial"/>
              </a:rPr>
              <a:t>Machine Learning project work  ·  A.Y. 2025/2026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4A4A4A"/>
                </a:solidFill>
                <a:latin typeface="Arial"/>
              </a:rPr>
              <a:t>Kaggle challenge: filament-segmentation-2026</a:t>
            </a:r>
          </a:p>
        </p:txBody>
      </p:sp>
      <p:pic>
        <p:nvPicPr>
          <p:cNvPr id="5" name="Picture 4" descr="unisa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Task and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2048 × 2048 H-alpha observation  →  one binary mask per filament (COCO RLE)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852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707 observations</a:t>
            </a:r>
            <a:r>
              <a:rPr sz="1600" b="0">
                <a:solidFill>
                  <a:srgbClr val="1A1A1A"/>
                </a:solidFill>
                <a:latin typeface="Arial"/>
              </a:rPr>
              <a:t>, 1154 annotator records, 8199 annotated filaments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Each record is </a:t>
            </a:r>
            <a:r>
              <a:rPr sz="1600" b="1">
                <a:solidFill>
                  <a:srgbClr val="1A1A1A"/>
                </a:solidFill>
                <a:latin typeface="Arial"/>
              </a:rPr>
              <a:t>one annotator's view</a:t>
            </a:r>
            <a:r>
              <a:rPr sz="1600" b="0">
                <a:solidFill>
                  <a:srgbClr val="1A1A1A"/>
                </a:solidFill>
                <a:latin typeface="Arial"/>
              </a:rPr>
              <a:t>: the same image appears up to 3 times with different polygons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Masks are </a:t>
            </a:r>
            <a:r>
              <a:rPr sz="1600" b="1">
                <a:solidFill>
                  <a:srgbClr val="1A1A1A"/>
                </a:solidFill>
                <a:latin typeface="Arial"/>
              </a:rPr>
              <a:t>drawn by hand</a:t>
            </a:r>
            <a:r>
              <a:rPr sz="1600" b="0">
                <a:solidFill>
                  <a:srgbClr val="1A1A1A"/>
                </a:solidFill>
                <a:latin typeface="Arial"/>
              </a:rPr>
              <a:t> — omissions and errors included, not a perfect ground truth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Filaments are small and rare: median instance </a:t>
            </a:r>
            <a:r>
              <a:rPr sz="1600" b="1">
                <a:solidFill>
                  <a:srgbClr val="1A1A1A"/>
                </a:solidFill>
                <a:latin typeface="Arial"/>
              </a:rPr>
              <a:t>1230 px</a:t>
            </a:r>
            <a:r>
              <a:rPr sz="1600" b="0">
                <a:solidFill>
                  <a:srgbClr val="1A1A1A"/>
                </a:solidFill>
                <a:latin typeface="Arial"/>
              </a:rPr>
              <a:t>, only </a:t>
            </a:r>
            <a:r>
              <a:rPr sz="1600" b="1">
                <a:solidFill>
                  <a:srgbClr val="1A1A1A"/>
                </a:solidFill>
                <a:latin typeface="Arial"/>
              </a:rPr>
              <a:t>0.4%</a:t>
            </a:r>
            <a:r>
              <a:rPr sz="1600" b="0">
                <a:solidFill>
                  <a:srgbClr val="1A1A1A"/>
                </a:solidFill>
                <a:latin typeface="Arial"/>
              </a:rPr>
              <a:t> of pixels are positive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Inter-annotator Dice = 0.62</a:t>
            </a:r>
            <a:r>
              <a:rPr sz="1600" b="0">
                <a:solidFill>
                  <a:srgbClr val="1A1A1A"/>
                </a:solidFill>
                <a:latin typeface="Arial"/>
              </a:rPr>
              <a:t> — a practical ceiling: above it a model fits one expert's style, it does not segment better</a:t>
            </a:r>
          </a:p>
        </p:txBody>
      </p:sp>
      <p:pic>
        <p:nvPicPr>
          <p:cNvPr id="7" name="Picture 6" descr="datas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31" y="1691640"/>
            <a:ext cx="3035976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6263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Arial"/>
              </a:rPr>
              <a:t>H-alpha image (left) and one annotator's mask (right)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Two scores, tracked everywhere, that disagree in an informative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Mean Dice — the project work score, our primary metric.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      Dice = 2 |P ∩ G| / (|P| + |G|)  ·  pure pixel overlap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Panoptic Quality — the Kaggle leaderboard metric.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      PQ = SQ × RQ  ·  instances matched at IoU &gt; 0.5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      SQ = mask quality of matched pairs   ·   RQ = how many instances are found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fragmented or noisy prediction </a:t>
            </a:r>
            <a:r>
              <a:rPr sz="1600" b="1">
                <a:solidFill>
                  <a:srgbClr val="1A1A1A"/>
                </a:solidFill>
                <a:latin typeface="Arial"/>
              </a:rPr>
              <a:t>barely moves Dice and destroys RQ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official PQ is re-implemented and verified against the organisers' code to 3·10⁻⁸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We optimise Dice for the delivery, and separately maximise PQ for the Kaggle leaderboard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Why a U-Net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Segmentation needs one decision per pixel, not one per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394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classification CNN </a:t>
            </a:r>
            <a:r>
              <a:rPr sz="1600" b="1">
                <a:solidFill>
                  <a:srgbClr val="1A1A1A"/>
                </a:solidFill>
                <a:latin typeface="Arial"/>
              </a:rPr>
              <a:t>discards spatial location</a:t>
            </a:r>
            <a:r>
              <a:rPr sz="1600" b="0">
                <a:solidFill>
                  <a:srgbClr val="1A1A1A"/>
                </a:solidFill>
                <a:latin typeface="Arial"/>
              </a:rPr>
              <a:t> to decide what the image is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plain decoder cannot undo it: by the bottleneck a thin filament is already </a:t>
            </a:r>
            <a:r>
              <a:rPr sz="1600" b="1">
                <a:solidFill>
                  <a:srgbClr val="1A1A1A"/>
                </a:solidFill>
                <a:latin typeface="Arial"/>
              </a:rPr>
              <a:t>gone</a:t>
            </a:r>
            <a:r>
              <a:rPr sz="1600" b="0">
                <a:solidFill>
                  <a:srgbClr val="1A1A1A"/>
                </a:solidFill>
                <a:latin typeface="Arial"/>
              </a:rPr>
              <a:t>, and no upsampling reinvents it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Skip connections</a:t>
            </a:r>
            <a:r>
              <a:rPr sz="1600" b="0">
                <a:solidFill>
                  <a:srgbClr val="1A1A1A"/>
                </a:solidFill>
                <a:latin typeface="Arial"/>
              </a:rPr>
              <a:t> copy each encoder stage into the decoder stage at the same resolution: fine detail travels </a:t>
            </a:r>
            <a:r>
              <a:rPr sz="1600" b="1">
                <a:solidFill>
                  <a:srgbClr val="1A1A1A"/>
                </a:solidFill>
                <a:latin typeface="Arial"/>
              </a:rPr>
              <a:t>around</a:t>
            </a:r>
            <a:r>
              <a:rPr sz="1600" b="0">
                <a:solidFill>
                  <a:srgbClr val="1A1A1A"/>
                </a:solidFill>
                <a:latin typeface="Arial"/>
              </a:rPr>
              <a:t> the bottleneck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For dark, thin, elongated filaments the skips are </a:t>
            </a:r>
            <a:r>
              <a:rPr sz="1600" b="1">
                <a:solidFill>
                  <a:srgbClr val="1A1A1A"/>
                </a:solidFill>
                <a:latin typeface="Arial"/>
              </a:rPr>
              <a:t>not a refinement — they are why the prediction exists</a:t>
            </a:r>
          </a:p>
        </p:txBody>
      </p:sp>
      <p:pic>
        <p:nvPicPr>
          <p:cNvPr id="7" name="Picture 6" descr="un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29526"/>
            <a:ext cx="5212080" cy="2639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Encoder: ResNet18 pre-trained on ImageNet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Fewer than 500 training observations — learning edges from scratch wastes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394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Classification head discarded; the four convolutional blocks feed the U-Net decoder through the skips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The RGB stem and ImageNet normalisation are </a:t>
            </a:r>
            <a:r>
              <a:rPr sz="1500" b="1">
                <a:solidFill>
                  <a:srgbClr val="1A1A1A"/>
                </a:solidFill>
                <a:latin typeface="Arial"/>
              </a:rPr>
              <a:t>algebraically folded</a:t>
            </a:r>
            <a:r>
              <a:rPr sz="1500" b="0">
                <a:solidFill>
                  <a:srgbClr val="1A1A1A"/>
                </a:solidFill>
                <a:latin typeface="Arial"/>
              </a:rPr>
              <a:t> into an equivalent single-channel convolution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Not used, with reasons:</a:t>
            </a:r>
            <a:r>
              <a:rPr sz="1500" b="0">
                <a:solidFill>
                  <a:srgbClr val="1A1A1A"/>
                </a:solidFill>
                <a:latin typeface="Arial"/>
              </a:rPr>
              <a:t> Mask R-CNN rebuilds masks from a 28×28 grid inside a box — hopeless for objects a few px wide and hundreds long (verified: a YOLOv8x detector gives Dice 0.632 vs our 0.68)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Bigger encoders / transformers: mask quality never moved across capacities, so </a:t>
            </a:r>
            <a:r>
              <a:rPr sz="1500" b="1">
                <a:solidFill>
                  <a:srgbClr val="1A1A1A"/>
                </a:solidFill>
                <a:latin typeface="Arial"/>
              </a:rPr>
              <a:t>capacity is not the constraint</a:t>
            </a:r>
          </a:p>
        </p:txBody>
      </p:sp>
      <p:pic>
        <p:nvPicPr>
          <p:cNvPr id="7" name="Picture 6" descr="resnet18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18964"/>
            <a:ext cx="5212080" cy="2477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Training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Identical in every run, so each comparison isolates one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577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Split on </a:t>
            </a:r>
            <a:r>
              <a:rPr sz="1600" b="1">
                <a:solidFill>
                  <a:srgbClr val="1A1A1A"/>
                </a:solidFill>
                <a:latin typeface="Arial"/>
              </a:rPr>
              <a:t>file names, never on annotator records</a:t>
            </a:r>
            <a:r>
              <a:rPr sz="1600" b="0">
                <a:solidFill>
                  <a:srgbClr val="1A1A1A"/>
                </a:solidFill>
                <a:latin typeface="Arial"/>
              </a:rPr>
              <a:t> — two annotators of one image describe the same pixels (494 / 106 / 107, seed 22)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Loss: </a:t>
            </a:r>
            <a:r>
              <a:rPr sz="1600" b="1">
                <a:solidFill>
                  <a:srgbClr val="1A1A1A"/>
                </a:solidFill>
                <a:latin typeface="Arial"/>
              </a:rPr>
              <a:t>BCE + soft Dice</a:t>
            </a:r>
            <a:r>
              <a:rPr sz="1600" b="0">
                <a:solidFill>
                  <a:srgbClr val="1A1A1A"/>
                </a:solidFill>
                <a:latin typeface="Arial"/>
              </a:rPr>
              <a:t>, equally weighted — Dice handles the 0.4% positive rate, BCE keeps probabilities calibrated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AdamW, batch 2, ≤ 20 epochs, early stopping on validation Dice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Augmentation: the </a:t>
            </a:r>
            <a:r>
              <a:rPr sz="1600" b="1">
                <a:solidFill>
                  <a:srgbClr val="1A1A1A"/>
                </a:solidFill>
                <a:latin typeface="Arial"/>
              </a:rPr>
              <a:t>8 square symmetries</a:t>
            </a:r>
            <a:r>
              <a:rPr sz="1600" b="0">
                <a:solidFill>
                  <a:srgbClr val="1A1A1A"/>
                </a:solidFill>
                <a:latin typeface="Arial"/>
              </a:rPr>
              <a:t> (filaments have no canonical orientation) + photometric jitter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Peak GPU memory </a:t>
            </a:r>
            <a:r>
              <a:rPr sz="1600" b="1">
                <a:solidFill>
                  <a:srgbClr val="1A1A1A"/>
                </a:solidFill>
                <a:latin typeface="Arial"/>
              </a:rPr>
              <a:t>measured</a:t>
            </a:r>
            <a:r>
              <a:rPr sz="1600" b="0">
                <a:solidFill>
                  <a:srgbClr val="1A1A1A"/>
                </a:solidFill>
                <a:latin typeface="Arial"/>
              </a:rPr>
              <a:t>, not estimated — the assignment rewards &lt; 5 GB training / &lt; 4 GB inference</a:t>
            </a: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06883"/>
            <a:ext cx="5303520" cy="1718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Arial"/>
              </a:rPr>
              <a:t>Delivered model: loss and metrics per epoch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Main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One hypothesis per run, one variable changed, each falsifiable by a single number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698480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"/>
                <a:gridCol w="4572000"/>
                <a:gridCol w="1188720"/>
                <a:gridCol w="1188720"/>
                <a:gridCol w="3017520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Exp.</a:t>
                      </a:r>
                    </a:p>
                  </a:txBody>
                  <a:tcPr anchor="ctr" marT="38100" marB="38100"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One variable</a:t>
                      </a:r>
                    </a:p>
                  </a:txBody>
                  <a:tcPr anchor="ctr" marT="38100" marB="38100"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Dice</a:t>
                      </a:r>
                    </a:p>
                  </a:txBody>
                  <a:tcPr anchor="ctr" marT="38100" marB="38100"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PQ</a:t>
                      </a:r>
                    </a:p>
                  </a:txBody>
                  <a:tcPr anchor="ctr" marT="38100" marB="38100"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anchor="ctr" marT="38100" marB="38100"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U-Net from scratch, 512²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0.6415*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ImageNet ResNet18 encoder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0.6552*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0.2505*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calibration, +1 pt Dice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topology loss (Tversky + clDice)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0.4937*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0.0618*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falsified, instructive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resolution 512 → 1024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0.6665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0.4022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largest single gain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→ 1536, D4 TTA, confidence gate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0.6729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0.4264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A4A"/>
                          </a:solidFill>
                          <a:latin typeface="Arial"/>
                        </a:rPr>
                        <a:t>best PQ (single model)</a:t>
                      </a:r>
                    </a:p>
                  </a:txBody>
                  <a:tcPr anchor="ctr" marT="38100" marB="38100">
                    <a:lnB w="6350" cap="flat" cmpd="sng" algn="ctr">
                      <a:solidFill>
                        <a:srgbClr val="D5D5D5"/>
                      </a:solidFill>
                      <a:prstDash val="solid"/>
                    </a:lnB>
                    <a:noFill/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T="38100" marB="38100">
                    <a:lnT w="12700" cap="flat" cmpd="sng" algn="ctr">
                      <a:solidFill>
                        <a:srgbClr val="1A1A1A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native 2048, random 1536 windows</a:t>
                      </a:r>
                    </a:p>
                  </a:txBody>
                  <a:tcPr anchor="ctr" marT="38100" marB="38100">
                    <a:lnT w="12700" cap="flat" cmpd="sng" algn="ctr">
                      <a:solidFill>
                        <a:srgbClr val="1A1A1A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0.6815</a:t>
                      </a:r>
                    </a:p>
                  </a:txBody>
                  <a:tcPr anchor="ctr" marT="38100" marB="38100">
                    <a:lnT w="12700" cap="flat" cmpd="sng" algn="ctr">
                      <a:solidFill>
                        <a:srgbClr val="1A1A1A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0.3930</a:t>
                      </a:r>
                    </a:p>
                  </a:txBody>
                  <a:tcPr anchor="ctr" marT="38100" marB="38100">
                    <a:lnT w="12700" cap="flat" cmpd="sng" algn="ctr">
                      <a:solidFill>
                        <a:srgbClr val="1A1A1A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best Dice — delivered</a:t>
                      </a:r>
                    </a:p>
                  </a:txBody>
                  <a:tcPr anchor="ctr" marT="38100" marB="38100">
                    <a:lnT w="12700" cap="flat" cmpd="sng" algn="ctr">
                      <a:solidFill>
                        <a:srgbClr val="1A1A1A"/>
                      </a:solidFill>
                      <a:prstDash val="solid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9834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Arial"/>
              </a:rPr>
              <a:t>* threshold 0.5, no post-processing (early protocol)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Arial"/>
              </a:rPr>
              <a:t>Also measured and rejected</a:t>
            </a:r>
            <a:r>
              <a:rPr sz="1400" b="0">
                <a:solidFill>
                  <a:srgbClr val="1A1A1A"/>
                </a:solidFill>
                <a:latin typeface="Arial"/>
              </a:rPr>
              <a:t>, each with its number: scale jitter, detect-then-refine cascade, soft consensus targets, instance-balanced Dice, BCE positive-class weight, per-component thresholds and dilation, post-hoc merging.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From probabilities to masks: the operating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Four post-processing hyperparameters, grid-searched jointly on the validation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943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threshold (0.50)</a:t>
            </a:r>
            <a:r>
              <a:rPr sz="1500" b="0">
                <a:solidFill>
                  <a:srgbClr val="1A1A1A"/>
                </a:solidFill>
                <a:latin typeface="Arial"/>
              </a:rPr>
              <a:t> — a pixel above it is filament, below it is background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closing (1)</a:t>
            </a:r>
            <a:r>
              <a:rPr sz="1500" b="0">
                <a:solidFill>
                  <a:srgbClr val="1A1A1A"/>
                </a:solidFill>
                <a:latin typeface="Arial"/>
              </a:rPr>
              <a:t> — fills one-pixel gaps: a split filament becomes one component again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minimum size (384 px)</a:t>
            </a:r>
            <a:r>
              <a:rPr sz="1500" b="0">
                <a:solidFill>
                  <a:srgbClr val="1A1A1A"/>
                </a:solidFill>
                <a:latin typeface="Arial"/>
              </a:rPr>
              <a:t> — drops small spurious components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confidence gate (0.90)</a:t>
            </a:r>
            <a:r>
              <a:rPr sz="1500" b="0">
                <a:solidFill>
                  <a:srgbClr val="1A1A1A"/>
                </a:solidFill>
                <a:latin typeface="Arial"/>
              </a:rPr>
              <a:t> — a component survives only if one of its pixels exceeds it; the threshold alone would decide both </a:t>
            </a:r>
            <a:r>
              <a:rPr sz="1500" b="1">
                <a:solidFill>
                  <a:srgbClr val="1A1A1A"/>
                </a:solidFill>
                <a:latin typeface="Arial"/>
              </a:rPr>
              <a:t>which</a:t>
            </a:r>
            <a:r>
              <a:rPr sz="1500" b="0">
                <a:solidFill>
                  <a:srgbClr val="1A1A1A"/>
                </a:solidFill>
                <a:latin typeface="Arial"/>
              </a:rPr>
              <a:t> components exist and </a:t>
            </a:r>
            <a:r>
              <a:rPr sz="1500" b="1">
                <a:solidFill>
                  <a:srgbClr val="1A1A1A"/>
                </a:solidFill>
                <a:latin typeface="Arial"/>
              </a:rPr>
              <a:t>how large</a:t>
            </a:r>
            <a:r>
              <a:rPr sz="1500" b="0">
                <a:solidFill>
                  <a:srgbClr val="1A1A1A"/>
                </a:solidFill>
                <a:latin typeface="Arial"/>
              </a:rPr>
              <a:t>, so raising it thins every real filament too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Scored at native </a:t>
            </a:r>
            <a:r>
              <a:rPr sz="1500" b="1">
                <a:solidFill>
                  <a:srgbClr val="1A1A1A"/>
                </a:solidFill>
                <a:latin typeface="Arial"/>
              </a:rPr>
              <a:t>2048²</a:t>
            </a:r>
            <a:r>
              <a:rPr sz="1500" b="0">
                <a:solidFill>
                  <a:srgbClr val="1A1A1A"/>
                </a:solidFill>
                <a:latin typeface="Arial"/>
              </a:rPr>
              <a:t>, where the submission is written — worth +0.020 Dice for free</a:t>
            </a:r>
          </a:p>
        </p:txBody>
      </p:sp>
      <p:pic>
        <p:nvPicPr>
          <p:cNvPr id="7" name="Picture 6" descr="threshold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86310"/>
            <a:ext cx="4663440" cy="26340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5257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Arial"/>
              </a:rPr>
              <a:t>Dice and PQ vs threshold: the two metrics peak at different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Error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What is left, and why more mask quality would not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4864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SQ is pinned at 0.66–0.68</a:t>
            </a:r>
            <a:r>
              <a:rPr sz="1500" b="0">
                <a:solidFill>
                  <a:srgbClr val="1A1A1A"/>
                </a:solidFill>
                <a:latin typeface="Arial"/>
              </a:rPr>
              <a:t> across all 15 experiments, against 0.59 agreement between two humans → </a:t>
            </a:r>
            <a:r>
              <a:rPr sz="1500" b="1">
                <a:solidFill>
                  <a:srgbClr val="1A1A1A"/>
                </a:solidFill>
                <a:latin typeface="Arial"/>
              </a:rPr>
              <a:t>mask quality is capped by the annotations, not the model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Dice crossed the inter-annotator ceiling at experiment 2 and stayed flat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Instance recall falls with size</a:t>
            </a:r>
            <a:r>
              <a:rPr sz="1500" b="0">
                <a:solidFill>
                  <a:srgbClr val="1A1A1A"/>
                </a:solidFill>
                <a:latin typeface="Arial"/>
              </a:rPr>
              <a:t>: 0.31 below 500 px → 0.73 above 5000 px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Errors are </a:t>
            </a:r>
            <a:r>
              <a:rPr sz="1500" b="1">
                <a:solidFill>
                  <a:srgbClr val="1A1A1A"/>
                </a:solidFill>
                <a:latin typeface="Arial"/>
              </a:rPr>
              <a:t>missed faint filaments</a:t>
            </a:r>
            <a:r>
              <a:rPr sz="1500" b="0">
                <a:solidFill>
                  <a:srgbClr val="1A1A1A"/>
                </a:solidFill>
                <a:latin typeface="Arial"/>
              </a:rPr>
              <a:t>, not fragmentation: splits and merges are 5.4% of all errors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Some "false positives" are real filaments </a:t>
            </a:r>
            <a:r>
              <a:rPr sz="1500" b="1">
                <a:solidFill>
                  <a:srgbClr val="1A1A1A"/>
                </a:solidFill>
                <a:latin typeface="Arial"/>
              </a:rPr>
              <a:t>no annotator marked</a:t>
            </a:r>
            <a:r>
              <a:rPr sz="1500" b="0">
                <a:solidFill>
                  <a:srgbClr val="1A1A1A"/>
                </a:solidFill>
                <a:latin typeface="Arial"/>
              </a:rPr>
              <a:t> — confirmed by the organisers</a:t>
            </a:r>
          </a:p>
        </p:txBody>
      </p:sp>
      <p:pic>
        <p:nvPicPr>
          <p:cNvPr id="7" name="Picture 6" descr="validation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119" y="1965960"/>
            <a:ext cx="396000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35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Arial"/>
              </a:rPr>
              <a:t>Ground truth · predicted probability · final instances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The delivered model,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Experiment 13 — ResNet18-U-Net trained on random 1536² windows of the native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10607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Best Dice of the study: 0.6815</a:t>
            </a:r>
            <a:r>
              <a:rPr sz="1600" b="0">
                <a:solidFill>
                  <a:srgbClr val="1A1A1A"/>
                </a:solidFill>
                <a:latin typeface="Arial"/>
              </a:rPr>
              <a:t> on validation — and Dice is the project work score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Native pixels </a:t>
            </a:r>
            <a:r>
              <a:rPr sz="1600" b="1">
                <a:solidFill>
                  <a:srgbClr val="1A1A1A"/>
                </a:solidFill>
                <a:latin typeface="Arial"/>
              </a:rPr>
              <a:t>win on mask quality</a:t>
            </a:r>
            <a:r>
              <a:rPr sz="1600" b="0">
                <a:solidFill>
                  <a:srgbClr val="1A1A1A"/>
                </a:solidFill>
                <a:latin typeface="Arial"/>
              </a:rPr>
              <a:t> and lose on recognition (PQ 0.393): the windows give up full-disk context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The only configuration inside both memory bonuses</a:t>
            </a:r>
            <a:r>
              <a:rPr sz="1600" b="0">
                <a:solidFill>
                  <a:srgbClr val="1A1A1A"/>
                </a:solidFill>
                <a:latin typeface="Arial"/>
              </a:rPr>
              <a:t>: 3.04 GB training, 2.50 GB inference (limits: 5 / 4 GB)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One model, one checkpoint, one operating point — the submitted notebooks </a:t>
            </a:r>
            <a:r>
              <a:rPr sz="1600" b="1">
                <a:solidFill>
                  <a:srgbClr val="1A1A1A"/>
                </a:solidFill>
                <a:latin typeface="Arial"/>
              </a:rPr>
              <a:t>reproduce it end to end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In parallel, for the Kaggle leaderboard we maximised PQ instead:</a:t>
            </a:r>
            <a:r>
              <a:rPr sz="1600" b="0">
                <a:solidFill>
                  <a:srgbClr val="1A1A1A"/>
                </a:solidFill>
                <a:latin typeface="Arial"/>
              </a:rPr>
              <a:t> a multi-scale ensemble plus detector rescue reaches </a:t>
            </a:r>
            <a:r>
              <a:rPr sz="1600" b="1">
                <a:solidFill>
                  <a:srgbClr val="1A1A1A"/>
                </a:solidFill>
                <a:latin typeface="Arial"/>
              </a:rPr>
              <a:t>PQ 0.4414</a:t>
            </a:r>
            <a:r>
              <a:rPr sz="1600" b="0">
                <a:solidFill>
                  <a:srgbClr val="1A1A1A"/>
                </a:solidFill>
                <a:latin typeface="Arial"/>
              </a:rPr>
              <a:t> on validation and </a:t>
            </a:r>
            <a:r>
              <a:rPr sz="1600" b="1">
                <a:solidFill>
                  <a:srgbClr val="1A1A1A"/>
                </a:solidFill>
                <a:latin typeface="Arial"/>
              </a:rPr>
              <a:t>0.37</a:t>
            </a:r>
            <a:r>
              <a:rPr sz="1600" b="0">
                <a:solidFill>
                  <a:srgbClr val="1A1A1A"/>
                </a:solidFill>
                <a:latin typeface="Arial"/>
              </a:rPr>
              <a:t> on the public leaderboard — but it needs up to 39 GB in training and optimises the metric the assignment does not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Take-home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7008"/>
            <a:ext cx="1371600" cy="3175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10607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Measure what the score measures, where it measures it</a:t>
            </a:r>
            <a:r>
              <a:rPr sz="1600" b="0">
                <a:solidFill>
                  <a:srgbClr val="1A1A1A"/>
                </a:solidFill>
                <a:latin typeface="Arial"/>
              </a:rPr>
              <a:t> — selecting the operating point at native resolution, against the official metric definition, was worth more than most training changes, and cost no training at all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Pick the metric that sees the failure mode</a:t>
            </a:r>
            <a:r>
              <a:rPr sz="1600" b="0">
                <a:solidFill>
                  <a:srgbClr val="1A1A1A"/>
                </a:solidFill>
                <a:latin typeface="Arial"/>
              </a:rPr>
              <a:t> — Dice saturated at experiment 2; every real improvement afterwards was visible only in PQ's recognition term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A falsified hypothesis is not a wasted run</a:t>
            </a:r>
            <a:r>
              <a:rPr sz="1600" b="0">
                <a:solidFill>
                  <a:srgbClr val="1A1A1A"/>
                </a:solidFill>
                <a:latin typeface="Arial"/>
              </a:rPr>
              <a:t> — over twenty ideas were measured and rejected, and each rejection redirected the effort. Experiment 3's failure is what exposed resolution as the real variable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Know your noise floor</a:t>
            </a:r>
            <a:r>
              <a:rPr sz="1600" b="0">
                <a:solidFill>
                  <a:srgbClr val="1A1A1A"/>
                </a:solidFill>
                <a:latin typeface="Arial"/>
              </a:rPr>
              <a:t> — on 169 validation entries, any gain below ≈ 0.005 is indistinguishable from selection noise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